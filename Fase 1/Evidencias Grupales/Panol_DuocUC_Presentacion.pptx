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image" Target="../media/image-5-2.png"/><Relationship Id="rId7" Type="http://schemas.openxmlformats.org/officeDocument/2006/relationships/image" Target="../media/image-5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1.png"/><Relationship Id="rId8" Type="http://schemas.openxmlformats.org/officeDocument/2006/relationships/image" Target="../media/image-7-1.png"/><Relationship Id="rId9" Type="http://schemas.openxmlformats.org/officeDocument/2006/relationships/image" Target="../media/image-7-1.png"/><Relationship Id="rId10" Type="http://schemas.openxmlformats.org/officeDocument/2006/relationships/image" Target="../media/image-7-1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0" y="-1463040"/>
            <a:ext cx="5486400" cy="3291840"/>
          </a:xfrm>
          <a:prstGeom prst="ellipse">
            <a:avLst/>
          </a:prstGeom>
          <a:solidFill>
            <a:srgbClr val="2F6FE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731520"/>
            <a:ext cx="4572000" cy="2743200"/>
          </a:xfrm>
          <a:prstGeom prst="ellipse">
            <a:avLst/>
          </a:prstGeom>
          <a:solidFill>
            <a:srgbClr val="6FA1FF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4572000" cy="2743200"/>
          </a:xfrm>
          <a:prstGeom prst="ellipse">
            <a:avLst/>
          </a:prstGeom>
          <a:solidFill>
            <a:srgbClr val="2F6FED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384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Pañol Duoc UC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Capstone 2026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180015" y="6355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 01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461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5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 Administración de Stock del Pañol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y Control de Inventario — Duoc UC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193792"/>
            <a:ext cx="4937760" cy="0"/>
          </a:xfrm>
          <a:prstGeom prst="line">
            <a:avLst/>
          </a:prstGeom>
          <a:noFill/>
          <a:ln w="12700">
            <a:solidFill>
              <a:srgbClr val="D8DB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5285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532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Zúñiga   •   Diego Pezoa   •   Emmanuel Yupanqui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5285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5532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59536" y="384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Pañol Duoc UC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Capstone 2026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80015" y="6355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 02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7040880" y="1417320"/>
            <a:ext cx="4572000" cy="2286000"/>
          </a:xfrm>
          <a:prstGeom prst="roundRect">
            <a:avLst>
              <a:gd name="adj" fmla="val 5600"/>
            </a:avLst>
          </a:prstGeom>
          <a:solidFill>
            <a:srgbClr val="23262E"/>
          </a:solidFill>
          <a:ln/>
        </p:spPr>
      </p:sp>
      <p:sp>
        <p:nvSpPr>
          <p:cNvPr id="9" name="Shape 7"/>
          <p:cNvSpPr/>
          <p:nvPr/>
        </p:nvSpPr>
        <p:spPr>
          <a:xfrm>
            <a:off x="7360920" y="1737360"/>
            <a:ext cx="914400" cy="914400"/>
          </a:xfrm>
          <a:prstGeom prst="ellipse">
            <a:avLst/>
          </a:prstGeom>
          <a:solidFill>
            <a:srgbClr val="1E3A6E"/>
          </a:solidFill>
          <a:ln/>
        </p:spPr>
      </p:sp>
      <p:pic>
        <p:nvPicPr>
          <p:cNvPr id="10" name="Image 0" descr="/home/claude/build/icons/LuBuildin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6660" y="194310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458200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Pañol, Duoc UC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360920" y="278892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materiales, herramientas y dispositivos usado por estudiantes y colaboradores.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16052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9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correcta administración del inventario es clave para el funcionamiento de El Pañol. Actualmente el sistema gestiona préstamos, devoluciones, stock y estado de los materiales, pero presenta debilidades en el registro de préstamos y devoluciones y en la clasificación de materiales, lo que afecta la eficiencia del proceso.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59536" y="384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Pañol Duoc UC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Capstone 2026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80015" y="6355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 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0584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5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Problemática: </a:t>
            </a:r>
            <a:pPr indent="0" marL="0">
              <a:buNone/>
            </a:pPr>
            <a:r>
              <a:rPr lang="en-US" sz="3200" dirty="0">
                <a:solidFill>
                  <a:srgbClr val="5B61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brechas del sistema actual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3520440" cy="3794760"/>
          </a:xfrm>
          <a:prstGeom prst="roundRect">
            <a:avLst>
              <a:gd name="adj" fmla="val 3636"/>
            </a:avLst>
          </a:prstGeom>
          <a:solidFill>
            <a:srgbClr val="2F6F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560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01.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3017520" y="2606040"/>
            <a:ext cx="685800" cy="685800"/>
          </a:xfrm>
          <a:prstGeom prst="ellipse">
            <a:avLst/>
          </a:prstGeom>
          <a:solidFill>
            <a:srgbClr val="1E3A6E"/>
          </a:solidFill>
          <a:ln/>
        </p:spPr>
      </p:sp>
      <p:pic>
        <p:nvPicPr>
          <p:cNvPr id="11" name="Image 0" descr="/home/claude/build/icons/LuShopping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8396" y="2756916"/>
            <a:ext cx="384048" cy="38404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68680" y="36576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52628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 carro de selección: los productos pueden guardarse automáticamente antes de confirmar el préstamo, generando registros incompletos o erróneos.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43400" y="2240280"/>
            <a:ext cx="3520440" cy="3794760"/>
          </a:xfrm>
          <a:prstGeom prst="roundRect">
            <a:avLst>
              <a:gd name="adj" fmla="val 3636"/>
            </a:avLst>
          </a:prstGeom>
          <a:solidFill>
            <a:srgbClr val="1D202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663440" y="2560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02.</a:t>
            </a:r>
            <a:endParaRPr lang="en-US" sz="4400" dirty="0"/>
          </a:p>
        </p:txBody>
      </p:sp>
      <p:sp>
        <p:nvSpPr>
          <p:cNvPr id="16" name="Shape 13"/>
          <p:cNvSpPr/>
          <p:nvPr/>
        </p:nvSpPr>
        <p:spPr>
          <a:xfrm>
            <a:off x="6812280" y="2606040"/>
            <a:ext cx="685800" cy="685800"/>
          </a:xfrm>
          <a:prstGeom prst="ellipse">
            <a:avLst/>
          </a:prstGeom>
          <a:solidFill>
            <a:srgbClr val="2C3038"/>
          </a:solidFill>
          <a:ln/>
        </p:spPr>
      </p:sp>
      <p:pic>
        <p:nvPicPr>
          <p:cNvPr id="17" name="Image 1" descr="/home/claude/build/icons/LuUndo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3156" y="2756916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663440" y="36576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devoluciones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4663440" y="452628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de devolución carece de un carro que permita añadir, remover y revisar los productos antes de confirmar la operación.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138160" y="2240280"/>
            <a:ext cx="3520440" cy="3794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458200" y="2560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5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03.</a:t>
            </a:r>
            <a:endParaRPr lang="en-US" sz="4400" dirty="0"/>
          </a:p>
        </p:txBody>
      </p:sp>
      <p:sp>
        <p:nvSpPr>
          <p:cNvPr id="22" name="Shape 18"/>
          <p:cNvSpPr/>
          <p:nvPr/>
        </p:nvSpPr>
        <p:spPr>
          <a:xfrm>
            <a:off x="10607040" y="2606040"/>
            <a:ext cx="685800" cy="685800"/>
          </a:xfrm>
          <a:prstGeom prst="ellipse">
            <a:avLst/>
          </a:prstGeom>
          <a:solidFill>
            <a:srgbClr val="E7E9EF"/>
          </a:solidFill>
          <a:ln/>
        </p:spPr>
      </p:sp>
      <p:pic>
        <p:nvPicPr>
          <p:cNvPr id="23" name="Image 2" descr="/home/claude/build/icons/LuTa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7916" y="2756916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458200" y="36576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8458200" y="452628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categorías no cuentan con un indicador que determine si un material es fungible o no fungible, dificultando saber si debe ser devuelto.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59536" y="384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Pañol Duoc UC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Capstone 2026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80015" y="6355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 04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Funcionamiento actual del sistema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El Pañol ya cubre un conjunto amplio de funcionalidades de administración de inventario.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2615184" cy="1783080"/>
          </a:xfrm>
          <a:prstGeom prst="roundRect">
            <a:avLst>
              <a:gd name="adj" fmla="val 6154"/>
            </a:avLst>
          </a:prstGeom>
          <a:solidFill>
            <a:srgbClr val="23262E"/>
          </a:solidFill>
          <a:ln/>
        </p:spPr>
      </p:sp>
      <p:sp>
        <p:nvSpPr>
          <p:cNvPr id="10" name="Shape 8"/>
          <p:cNvSpPr/>
          <p:nvPr/>
        </p:nvSpPr>
        <p:spPr>
          <a:xfrm>
            <a:off x="768096" y="2505456"/>
            <a:ext cx="566928" cy="566928"/>
          </a:xfrm>
          <a:prstGeom prst="ellipse">
            <a:avLst/>
          </a:prstGeom>
          <a:solidFill>
            <a:srgbClr val="1E3A6E"/>
          </a:solidFill>
          <a:ln/>
        </p:spPr>
      </p:sp>
      <p:pic>
        <p:nvPicPr>
          <p:cNvPr id="11" name="Image 0" descr="/home/claude/build/icons/Lu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820" y="2630180"/>
            <a:ext cx="317480" cy="3174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68096" y="318211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de usuarios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68096" y="358444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con credenciales por perfil.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364992" y="2286000"/>
            <a:ext cx="2615184" cy="1783080"/>
          </a:xfrm>
          <a:prstGeom prst="roundRect">
            <a:avLst>
              <a:gd name="adj" fmla="val 6154"/>
            </a:avLst>
          </a:prstGeom>
          <a:solidFill>
            <a:srgbClr val="23262E"/>
          </a:solidFill>
          <a:ln/>
        </p:spPr>
      </p:sp>
      <p:sp>
        <p:nvSpPr>
          <p:cNvPr id="15" name="Shape 12"/>
          <p:cNvSpPr/>
          <p:nvPr/>
        </p:nvSpPr>
        <p:spPr>
          <a:xfrm>
            <a:off x="3584448" y="2505456"/>
            <a:ext cx="566928" cy="566928"/>
          </a:xfrm>
          <a:prstGeom prst="ellipse">
            <a:avLst/>
          </a:prstGeom>
          <a:solidFill>
            <a:srgbClr val="1E3A6E"/>
          </a:solidFill>
          <a:ln/>
        </p:spPr>
      </p:sp>
      <p:pic>
        <p:nvPicPr>
          <p:cNvPr id="16" name="Image 1" descr="/home/claude/build/icons/LuScan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172" y="2630180"/>
            <a:ext cx="317480" cy="31748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584448" y="318211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barras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3584448" y="358444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rápido de materiales.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181344" y="2286000"/>
            <a:ext cx="2615184" cy="1783080"/>
          </a:xfrm>
          <a:prstGeom prst="roundRect">
            <a:avLst>
              <a:gd name="adj" fmla="val 6154"/>
            </a:avLst>
          </a:prstGeom>
          <a:solidFill>
            <a:srgbClr val="23262E"/>
          </a:solidFill>
          <a:ln/>
        </p:spPr>
      </p:sp>
      <p:sp>
        <p:nvSpPr>
          <p:cNvPr id="20" name="Shape 16"/>
          <p:cNvSpPr/>
          <p:nvPr/>
        </p:nvSpPr>
        <p:spPr>
          <a:xfrm>
            <a:off x="6400800" y="2505456"/>
            <a:ext cx="566928" cy="566928"/>
          </a:xfrm>
          <a:prstGeom prst="ellipse">
            <a:avLst/>
          </a:prstGeom>
          <a:solidFill>
            <a:srgbClr val="1E3A6E"/>
          </a:solidFill>
          <a:ln/>
        </p:spPr>
      </p:sp>
      <p:pic>
        <p:nvPicPr>
          <p:cNvPr id="21" name="Image 2" descr="/home/claude/build/icons/LuClipboardL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524" y="2630180"/>
            <a:ext cx="317480" cy="31748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400800" y="318211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préstamos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6400800" y="358444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Fecha, RUT, área, asignatura y stock.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8997696" y="2286000"/>
            <a:ext cx="2615184" cy="1783080"/>
          </a:xfrm>
          <a:prstGeom prst="roundRect">
            <a:avLst>
              <a:gd name="adj" fmla="val 6154"/>
            </a:avLst>
          </a:prstGeom>
          <a:solidFill>
            <a:srgbClr val="23262E"/>
          </a:solidFill>
          <a:ln/>
        </p:spPr>
      </p:sp>
      <p:sp>
        <p:nvSpPr>
          <p:cNvPr id="25" name="Shape 20"/>
          <p:cNvSpPr/>
          <p:nvPr/>
        </p:nvSpPr>
        <p:spPr>
          <a:xfrm>
            <a:off x="9217152" y="2505456"/>
            <a:ext cx="566928" cy="566928"/>
          </a:xfrm>
          <a:prstGeom prst="ellipse">
            <a:avLst/>
          </a:prstGeom>
          <a:solidFill>
            <a:srgbClr val="1E3A6E"/>
          </a:solidFill>
          <a:ln/>
        </p:spPr>
      </p:sp>
      <p:pic>
        <p:nvPicPr>
          <p:cNvPr id="26" name="Image 3" descr="/home/claude/build/icons/LuPack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876" y="2630180"/>
            <a:ext cx="317480" cy="31748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17152" y="318211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stock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9217152" y="358444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existente por producto.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548640" y="4297680"/>
            <a:ext cx="2615184" cy="1783080"/>
          </a:xfrm>
          <a:prstGeom prst="roundRect">
            <a:avLst>
              <a:gd name="adj" fmla="val 6154"/>
            </a:avLst>
          </a:prstGeom>
          <a:solidFill>
            <a:srgbClr val="23262E"/>
          </a:solidFill>
          <a:ln/>
        </p:spPr>
      </p:sp>
      <p:sp>
        <p:nvSpPr>
          <p:cNvPr id="30" name="Shape 24"/>
          <p:cNvSpPr/>
          <p:nvPr/>
        </p:nvSpPr>
        <p:spPr>
          <a:xfrm>
            <a:off x="768096" y="4517136"/>
            <a:ext cx="566928" cy="566928"/>
          </a:xfrm>
          <a:prstGeom prst="ellipse">
            <a:avLst/>
          </a:prstGeom>
          <a:solidFill>
            <a:srgbClr val="1E3A6E"/>
          </a:solidFill>
          <a:ln/>
        </p:spPr>
      </p:sp>
      <p:pic>
        <p:nvPicPr>
          <p:cNvPr id="31" name="Image 4" descr="/home/claude/build/icons/LuFileTex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820" y="4641860"/>
            <a:ext cx="317480" cy="31748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68096" y="519379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facturas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768096" y="559612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compras asociadas.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3364992" y="4297680"/>
            <a:ext cx="2615184" cy="1783080"/>
          </a:xfrm>
          <a:prstGeom prst="roundRect">
            <a:avLst>
              <a:gd name="adj" fmla="val 6154"/>
            </a:avLst>
          </a:prstGeom>
          <a:solidFill>
            <a:srgbClr val="23262E"/>
          </a:solidFill>
          <a:ln/>
        </p:spPr>
      </p:sp>
      <p:sp>
        <p:nvSpPr>
          <p:cNvPr id="35" name="Shape 28"/>
          <p:cNvSpPr/>
          <p:nvPr/>
        </p:nvSpPr>
        <p:spPr>
          <a:xfrm>
            <a:off x="3584448" y="4517136"/>
            <a:ext cx="566928" cy="566928"/>
          </a:xfrm>
          <a:prstGeom prst="ellipse">
            <a:avLst/>
          </a:prstGeom>
          <a:solidFill>
            <a:srgbClr val="1E3A6E"/>
          </a:solidFill>
          <a:ln/>
        </p:spPr>
      </p:sp>
      <p:pic>
        <p:nvPicPr>
          <p:cNvPr id="36" name="Image 5" descr="/home/claude/build/icons/Lu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9172" y="4641860"/>
            <a:ext cx="317480" cy="31748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3584448" y="519379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de usuario</a:t>
            </a:r>
            <a:endParaRPr lang="en-US" sz="1250" dirty="0"/>
          </a:p>
        </p:txBody>
      </p:sp>
      <p:sp>
        <p:nvSpPr>
          <p:cNvPr id="38" name="Text 30"/>
          <p:cNvSpPr txBox="1"/>
          <p:nvPr/>
        </p:nvSpPr>
        <p:spPr>
          <a:xfrm>
            <a:off x="3584448" y="559612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según tipo de usuario.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6181344" y="4297680"/>
            <a:ext cx="2615184" cy="1783080"/>
          </a:xfrm>
          <a:prstGeom prst="roundRect">
            <a:avLst>
              <a:gd name="adj" fmla="val 6154"/>
            </a:avLst>
          </a:prstGeom>
          <a:solidFill>
            <a:srgbClr val="23262E"/>
          </a:solidFill>
          <a:ln/>
        </p:spPr>
      </p:sp>
      <p:sp>
        <p:nvSpPr>
          <p:cNvPr id="40" name="Shape 32"/>
          <p:cNvSpPr/>
          <p:nvPr/>
        </p:nvSpPr>
        <p:spPr>
          <a:xfrm>
            <a:off x="6400800" y="4517136"/>
            <a:ext cx="566928" cy="566928"/>
          </a:xfrm>
          <a:prstGeom prst="ellipse">
            <a:avLst/>
          </a:prstGeom>
          <a:solidFill>
            <a:srgbClr val="1E3A6E"/>
          </a:solidFill>
          <a:ln/>
        </p:spPr>
      </p:sp>
      <p:pic>
        <p:nvPicPr>
          <p:cNvPr id="41" name="Image 6" descr="/home/claude/build/icons/LuShield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5524" y="4641860"/>
            <a:ext cx="317480" cy="31748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6400800" y="519379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y calidad</a:t>
            </a:r>
            <a:endParaRPr lang="en-US" sz="1250" dirty="0"/>
          </a:p>
        </p:txBody>
      </p:sp>
      <p:sp>
        <p:nvSpPr>
          <p:cNvPr id="43" name="Text 34"/>
          <p:cNvSpPr txBox="1"/>
          <p:nvPr/>
        </p:nvSpPr>
        <p:spPr>
          <a:xfrm>
            <a:off x="6400800" y="559612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de cada material.</a:t>
            </a:r>
            <a:endParaRPr lang="en-US" sz="950" dirty="0"/>
          </a:p>
        </p:txBody>
      </p:sp>
      <p:sp>
        <p:nvSpPr>
          <p:cNvPr id="44" name="Shape 35"/>
          <p:cNvSpPr/>
          <p:nvPr/>
        </p:nvSpPr>
        <p:spPr>
          <a:xfrm>
            <a:off x="8997696" y="4297680"/>
            <a:ext cx="2615184" cy="1783080"/>
          </a:xfrm>
          <a:prstGeom prst="roundRect">
            <a:avLst>
              <a:gd name="adj" fmla="val 6154"/>
            </a:avLst>
          </a:prstGeom>
          <a:solidFill>
            <a:srgbClr val="23262E"/>
          </a:solidFill>
          <a:ln/>
        </p:spPr>
      </p:sp>
      <p:sp>
        <p:nvSpPr>
          <p:cNvPr id="45" name="Shape 36"/>
          <p:cNvSpPr/>
          <p:nvPr/>
        </p:nvSpPr>
        <p:spPr>
          <a:xfrm>
            <a:off x="9217152" y="4517136"/>
            <a:ext cx="566928" cy="566928"/>
          </a:xfrm>
          <a:prstGeom prst="ellipse">
            <a:avLst/>
          </a:prstGeom>
          <a:solidFill>
            <a:srgbClr val="1E3A6E"/>
          </a:solidFill>
          <a:ln/>
        </p:spPr>
      </p:sp>
      <p:pic>
        <p:nvPicPr>
          <p:cNvPr id="46" name="Image 7" descr="/home/claude/build/icons/LuWarehous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1876" y="4641860"/>
            <a:ext cx="317480" cy="317480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9217152" y="519379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Sedes y ubicación</a:t>
            </a:r>
            <a:endParaRPr lang="en-US" sz="1250" dirty="0"/>
          </a:p>
        </p:txBody>
      </p:sp>
      <p:sp>
        <p:nvSpPr>
          <p:cNvPr id="48" name="Text 38"/>
          <p:cNvSpPr txBox="1"/>
          <p:nvPr/>
        </p:nvSpPr>
        <p:spPr>
          <a:xfrm>
            <a:off x="9217152" y="559612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se encuentra cada producto.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59536" y="384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Pañol Duoc UC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Capstone 2026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80015" y="6355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 05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del proyecto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120640" cy="4480560"/>
          </a:xfrm>
          <a:prstGeom prst="roundRect">
            <a:avLst>
              <a:gd name="adj" fmla="val 2857"/>
            </a:avLst>
          </a:prstGeom>
          <a:solidFill>
            <a:srgbClr val="2F6FED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920240"/>
            <a:ext cx="777240" cy="777240"/>
          </a:xfrm>
          <a:prstGeom prst="ellipse">
            <a:avLst/>
          </a:prstGeom>
          <a:solidFill>
            <a:srgbClr val="1E56C4"/>
          </a:solidFill>
          <a:ln/>
        </p:spPr>
      </p:sp>
      <p:pic>
        <p:nvPicPr>
          <p:cNvPr id="10" name="Image 0" descr="/home/claude/build/icons/Lu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393" y="2091233"/>
            <a:ext cx="435254" cy="43525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14400" y="2788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3246120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y mejorar un sistema de software para la gestión de inventario de El Pañol, controlando de manera eficiente el stock, los préstamos, las devoluciones, los estados y los movimientos, entregando información actualizada para la toma de decisiones.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989320" y="2203704"/>
            <a:ext cx="256032" cy="256032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15" name="Image 1" descr="/home/claude/build/icons/Lu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184" y="2258568"/>
            <a:ext cx="146304" cy="14630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400800" y="21488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un registro actualizado de los productos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989320" y="2862072"/>
            <a:ext cx="256032" cy="256032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18" name="Image 2" descr="/home/claude/build/icons/Lu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4" y="2916936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00800" y="280720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cantidades de stock e identificar niveles críticos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989320" y="3520440"/>
            <a:ext cx="256032" cy="256032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21" name="Image 3" descr="/home/claude/build/icons/Lu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3575304"/>
            <a:ext cx="146304" cy="14630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400800" y="346557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préstamos y devoluciones de forma confiable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989320" y="4178808"/>
            <a:ext cx="256032" cy="256032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24" name="Image 4" descr="/home/claude/build/icons/Lu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4184" y="4233672"/>
            <a:ext cx="146304" cy="14630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400800" y="412394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materiales fungibles y no fungibles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5989320" y="4837176"/>
            <a:ext cx="256032" cy="256032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27" name="Image 5" descr="/home/claude/build/icons/Lu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4184" y="4892040"/>
            <a:ext cx="146304" cy="14630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400800" y="47823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el control de préstamos del horario vespertino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5989320" y="5495544"/>
            <a:ext cx="256032" cy="256032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30" name="Image 6" descr="/home/claude/build/icons/Lu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4184" y="5550408"/>
            <a:ext cx="146304" cy="146304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400800" y="54406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y controlar préstamos vencidos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59536" y="384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Pañol Duoc UC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Capstone 2026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80015" y="6355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 06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 Propuesta: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Mejoras al sistema del Pañol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23262E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834640"/>
            <a:ext cx="731520" cy="731520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10" name="Image 0" descr="/home/claude/build/icons/LuShopping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" y="2995574"/>
            <a:ext cx="409651" cy="409651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68680" y="374904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 de préstamos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devoluciones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6634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y remover productos, revisarlos y confirmarlos antes de guardar la operación, evitando registros incompletos.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43400" y="251460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23262E"/>
          </a:solidFill>
          <a:ln/>
        </p:spPr>
      </p:sp>
      <p:sp>
        <p:nvSpPr>
          <p:cNvPr id="14" name="Shape 11"/>
          <p:cNvSpPr/>
          <p:nvPr/>
        </p:nvSpPr>
        <p:spPr>
          <a:xfrm>
            <a:off x="4663440" y="2834640"/>
            <a:ext cx="731520" cy="731520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15" name="Image 1" descr="/home/claude/build/icons/LuToggle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374" y="2995574"/>
            <a:ext cx="409651" cy="40965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663440" y="374904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fungible /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fungible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4663440" y="46634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automática por categoría que define si un producto debe devolverse o se considera consumible.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38160" y="251460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23262E"/>
          </a:solidFill>
          <a:ln/>
        </p:spPr>
      </p:sp>
      <p:sp>
        <p:nvSpPr>
          <p:cNvPr id="19" name="Shape 15"/>
          <p:cNvSpPr/>
          <p:nvPr/>
        </p:nvSpPr>
        <p:spPr>
          <a:xfrm>
            <a:off x="8458200" y="2834640"/>
            <a:ext cx="731520" cy="731520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20" name="Image 2" descr="/home/claude/build/icons/LuMo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134" y="2995574"/>
            <a:ext cx="409651" cy="409651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458200" y="374904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Préstamos vespertinos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control de vencidos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8458200" y="46634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independiente del horario vespertino y chequeo periódico del estado: devuelto, pendiente o vencido.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59536" y="384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Pañol Duoc UC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Capstone 2026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80015" y="6355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 07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del proyecto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digital de los procesos de inventario de El Pañol.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2231136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11" name="Image 0" descr="/home/claude/build/icons/Lu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295144"/>
            <a:ext cx="182880" cy="1828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15568" y="210312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usuarios y perfiles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2816352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94944" y="2944368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15" name="Image 1" descr="/home/claude/build/icons/Lu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008376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115568" y="281635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productos y control de stock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3529584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94944" y="3657600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19" name="Image 2" descr="/home/claude/build/icons/Lu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721608"/>
            <a:ext cx="182880" cy="1828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15568" y="3529584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materiales fungibles y no fungibles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4242816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94944" y="4370832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23" name="Image 3" descr="/home/claude/build/icons/Lu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434840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15568" y="424281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préstamos y devoluciones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4956048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94944" y="5084064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27" name="Image 4" descr="/home/claude/build/icons/Lu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5148072"/>
            <a:ext cx="182880" cy="18288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115568" y="495604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estados, fechas y ubicaciones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309360" y="210312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55664" y="2231136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31" name="Image 5" descr="/home/claude/build/icons/Lu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2295144"/>
            <a:ext cx="182880" cy="1828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876288" y="210312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facturas y bajas de inventario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6309360" y="2816352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455664" y="2944368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35" name="Image 6" descr="/home/claude/build/icons/Lu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9672" y="3008376"/>
            <a:ext cx="182880" cy="18288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876288" y="281635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stock crítico</a:t>
            </a:r>
            <a:endParaRPr lang="en-US" sz="1200" dirty="0"/>
          </a:p>
        </p:txBody>
      </p:sp>
      <p:sp>
        <p:nvSpPr>
          <p:cNvPr id="37" name="Shape 28"/>
          <p:cNvSpPr/>
          <p:nvPr/>
        </p:nvSpPr>
        <p:spPr>
          <a:xfrm>
            <a:off x="6309360" y="3529584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6455664" y="3657600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39" name="Image 7" descr="/home/claude/build/icons/Lu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9672" y="3721608"/>
            <a:ext cx="182880" cy="182880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6876288" y="3529584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préstamos del horario vespertino</a:t>
            </a:r>
            <a:endParaRPr lang="en-US" sz="1200" dirty="0"/>
          </a:p>
        </p:txBody>
      </p:sp>
      <p:sp>
        <p:nvSpPr>
          <p:cNvPr id="41" name="Shape 31"/>
          <p:cNvSpPr/>
          <p:nvPr/>
        </p:nvSpPr>
        <p:spPr>
          <a:xfrm>
            <a:off x="6309360" y="4242816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6455664" y="4370832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43" name="Image 8" descr="/home/claude/build/icons/Lu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9672" y="4434840"/>
            <a:ext cx="182880" cy="182880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6876288" y="424281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préstamos vencidos</a:t>
            </a:r>
            <a:endParaRPr lang="en-US" sz="1200" dirty="0"/>
          </a:p>
        </p:txBody>
      </p:sp>
      <p:sp>
        <p:nvSpPr>
          <p:cNvPr id="45" name="Shape 34"/>
          <p:cNvSpPr/>
          <p:nvPr/>
        </p:nvSpPr>
        <p:spPr>
          <a:xfrm>
            <a:off x="6309360" y="4956048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46" name="Shape 35"/>
          <p:cNvSpPr/>
          <p:nvPr/>
        </p:nvSpPr>
        <p:spPr>
          <a:xfrm>
            <a:off x="6455664" y="5084064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47" name="Image 9" descr="/home/claude/build/icons/LuChe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9672" y="5148072"/>
            <a:ext cx="182880" cy="182880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6876288" y="495604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 información para toma de decisiones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59536" y="384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Pañol Duoc UC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Capstone 2026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80015" y="6355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 08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 del Proyecto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85800" y="3108960"/>
            <a:ext cx="1463040" cy="1463040"/>
          </a:xfrm>
          <a:prstGeom prst="ellipse">
            <a:avLst/>
          </a:prstGeom>
          <a:solidFill>
            <a:srgbClr val="1D2027"/>
          </a:solidFill>
          <a:ln w="25400">
            <a:solidFill>
              <a:srgbClr val="3A3F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6758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48840" y="3840480"/>
            <a:ext cx="365760" cy="0"/>
          </a:xfrm>
          <a:prstGeom prst="line">
            <a:avLst/>
          </a:prstGeom>
          <a:noFill/>
          <a:ln w="19050">
            <a:solidFill>
              <a:srgbClr val="3A3F4A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365760" y="16002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 de préstamos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devoluciones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231343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Añadir/remover productos y evitar el autoguardado antes de confirmar.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51960" y="3108960"/>
            <a:ext cx="1463040" cy="1463040"/>
          </a:xfrm>
          <a:prstGeom prst="ellipse">
            <a:avLst/>
          </a:prstGeom>
          <a:solidFill>
            <a:srgbClr val="2F6FED"/>
          </a:solidFill>
          <a:ln w="25400">
            <a:solidFill>
              <a:srgbClr val="2F6F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36758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3840480"/>
            <a:ext cx="365760" cy="0"/>
          </a:xfrm>
          <a:prstGeom prst="line">
            <a:avLst/>
          </a:prstGeom>
          <a:noFill/>
          <a:ln w="19050">
            <a:solidFill>
              <a:srgbClr val="3A3F4A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3931920" y="48463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fungible / no fungible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555955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el indicador de estado por categoría y producto.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18120" y="3108960"/>
            <a:ext cx="1463040" cy="1463040"/>
          </a:xfrm>
          <a:prstGeom prst="ellipse">
            <a:avLst/>
          </a:prstGeom>
          <a:solidFill>
            <a:srgbClr val="1D2027"/>
          </a:solidFill>
          <a:ln w="25400">
            <a:solidFill>
              <a:srgbClr val="3A3F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18120" y="36758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16002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Vespertino y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préstamos vencidos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31343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independiente del horario vespertino y chequeo de vencimientos.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59536" y="384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Pañol Duoc UC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Capstone 2026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80015" y="6355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 09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Beneficios esperados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concretos para El Pañol y la Dirección de Carrera.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2404872"/>
            <a:ext cx="603504" cy="603504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11" name="Image 0" descr="/home/claude/build/icons/LuBox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443" y="2537643"/>
            <a:ext cx="337962" cy="33796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4672" y="310896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control del inventario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04672" y="356616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de stock actualizada en tiempo real.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43400" y="214884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99432" y="2404872"/>
            <a:ext cx="603504" cy="603504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16" name="Image 1" descr="/home/claude/build/icons/LuCircleCheckB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203" y="2537643"/>
            <a:ext cx="337962" cy="33796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599432" y="310896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errores de registro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4599432" y="356616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 de préstamos y devoluciones reduce fallos.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138160" y="214884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394192" y="2404872"/>
            <a:ext cx="603504" cy="603504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21" name="Image 2" descr="/home/claude/build/icons/LuTriangle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963" y="2537643"/>
            <a:ext cx="337962" cy="33796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394192" y="310896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temprana de stock crítico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8394192" y="356616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para reposición oportuna.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48640" y="43434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04672" y="4599432"/>
            <a:ext cx="603504" cy="603504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26" name="Image 3" descr="/home/claude/build/icons/LuTrending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443" y="4732203"/>
            <a:ext cx="337962" cy="33796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04672" y="530352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más rápidos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804672" y="57607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Préstamos y devoluciones más ágiles.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343400" y="43434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599432" y="4599432"/>
            <a:ext cx="603504" cy="603504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31" name="Image 4" descr="/home/claude/build/icons/Lu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203" y="4732203"/>
            <a:ext cx="337962" cy="33796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4599432" y="530352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de préstamos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4599432" y="57607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vencidos y pendientes.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138160" y="43434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394192" y="4599432"/>
            <a:ext cx="603504" cy="603504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36" name="Image 5" descr="/home/claude/build/icons/LuChartB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6963" y="4732203"/>
            <a:ext cx="337962" cy="33796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394192" y="530352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toma de decisiones</a:t>
            </a:r>
            <a:endParaRPr lang="en-US" sz="1250" dirty="0"/>
          </a:p>
        </p:txBody>
      </p:sp>
      <p:sp>
        <p:nvSpPr>
          <p:cNvPr id="38" name="Text 30"/>
          <p:cNvSpPr txBox="1"/>
          <p:nvPr/>
        </p:nvSpPr>
        <p:spPr>
          <a:xfrm>
            <a:off x="8394192" y="57607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costos, stock y reposición.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0" y="-1463040"/>
            <a:ext cx="5486400" cy="3291840"/>
          </a:xfrm>
          <a:prstGeom prst="ellipse">
            <a:avLst/>
          </a:prstGeom>
          <a:solidFill>
            <a:srgbClr val="2F6FE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731520"/>
            <a:ext cx="4572000" cy="2743200"/>
          </a:xfrm>
          <a:prstGeom prst="ellipse">
            <a:avLst/>
          </a:prstGeom>
          <a:solidFill>
            <a:srgbClr val="6FA1FF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4572000" cy="2743200"/>
          </a:xfrm>
          <a:prstGeom prst="ellipse">
            <a:avLst/>
          </a:prstGeom>
          <a:solidFill>
            <a:srgbClr val="2F6FED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384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Pañol Duoc UC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Capstone 2026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180015" y="6355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 10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92024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Construyamos juntos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futuro del Pañol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7315200" cy="0"/>
          </a:xfrm>
          <a:prstGeom prst="line">
            <a:avLst/>
          </a:prstGeom>
          <a:noFill/>
          <a:ln w="12700">
            <a:solidFill>
              <a:srgbClr val="3439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160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348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Zúñiga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Pezoa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Yupanqui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4160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Institución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44348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 UC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4160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44348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Diciembre 2026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2026-09-08T19:08:32Z</dcterms:created>
  <dcterms:modified xsi:type="dcterms:W3CDTF">2026-09-08T19:08:32Z</dcterms:modified>
</cp:coreProperties>
</file>